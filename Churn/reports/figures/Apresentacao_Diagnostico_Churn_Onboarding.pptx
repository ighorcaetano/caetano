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88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3" descr="Gráfico financeiro digital">
            <a:extLst>
              <a:ext uri="{FF2B5EF4-FFF2-40B4-BE49-F238E27FC236}">
                <a16:creationId xmlns:a16="http://schemas.microsoft.com/office/drawing/2014/main" id="{469F4593-EDDE-3E2D-F2DE-1E6BE44E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643" r="17357"/>
          <a:stretch>
            <a:fillRect/>
          </a:stretch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17" name="Group 7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9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6823878" y="2533476"/>
            <a:ext cx="4491820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  <a:defRPr sz="3600" b="1">
                <a:solidFill>
                  <a:srgbClr val="FFFFFF"/>
                </a:solidFill>
                <a:latin typeface="Arial"/>
              </a:defRPr>
            </a:pPr>
            <a:r>
              <a:rPr lang="en-US" sz="2000" dirty="0"/>
              <a:t>DIAGNÓSTICO ESTRATÉGICO DE CHURN &amp; ONBOARDING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>
                <a:solidFill>
                  <a:srgbClr val="2980B9"/>
                </a:solidFill>
                <a:latin typeface="Arial"/>
              </a:defRPr>
            </a:pPr>
            <a:r>
              <a:rPr lang="en-US" sz="2000" dirty="0" err="1"/>
              <a:t>Análise</a:t>
            </a:r>
            <a:r>
              <a:rPr lang="en-US" sz="2000" dirty="0"/>
              <a:t> de </a:t>
            </a:r>
            <a:r>
              <a:rPr lang="en-US" sz="2000" dirty="0" err="1"/>
              <a:t>Retenção</a:t>
            </a:r>
            <a:r>
              <a:rPr lang="en-US" sz="2000" dirty="0"/>
              <a:t> de </a:t>
            </a:r>
            <a:r>
              <a:rPr lang="en-US" sz="2000" dirty="0" err="1"/>
              <a:t>Clientes</a:t>
            </a:r>
            <a:r>
              <a:rPr lang="en-US" sz="2000" dirty="0"/>
              <a:t>, </a:t>
            </a:r>
            <a:r>
              <a:rPr lang="en-US" sz="2000" dirty="0" err="1"/>
              <a:t>Segmentação</a:t>
            </a:r>
            <a:r>
              <a:rPr lang="en-US" sz="2000" dirty="0"/>
              <a:t> RFM e </a:t>
            </a:r>
            <a:r>
              <a:rPr lang="en-US" sz="2000" dirty="0" err="1"/>
              <a:t>Funil</a:t>
            </a:r>
            <a:r>
              <a:rPr lang="en-US" sz="2000" dirty="0"/>
              <a:t> de </a:t>
            </a:r>
            <a:r>
              <a:rPr lang="en-US" sz="2000" dirty="0" err="1"/>
              <a:t>Conversão</a:t>
            </a:r>
            <a:endParaRPr lang="en-US" sz="2000" dirty="0"/>
          </a:p>
          <a:p>
            <a:pPr indent="-228600" defTabSz="914400">
              <a:lnSpc>
                <a:spcPct val="90000"/>
              </a:lnSpc>
              <a:spcBef>
                <a:spcPts val="4000"/>
              </a:spcBef>
              <a:buFont typeface="Arial" panose="020B0604020202020204" pitchFamily="34" charset="0"/>
              <a:buChar char="•"/>
              <a:defRPr sz="1200">
                <a:solidFill>
                  <a:srgbClr val="FFFFFF"/>
                </a:solidFill>
                <a:latin typeface="Arial"/>
              </a:defRPr>
            </a:pPr>
            <a:r>
              <a:rPr lang="en-US" sz="2000" dirty="0" err="1"/>
              <a:t>Apresentação</a:t>
            </a:r>
            <a:r>
              <a:rPr lang="en-US" sz="2000" dirty="0"/>
              <a:t> </a:t>
            </a:r>
            <a:r>
              <a:rPr lang="en-US" sz="2000" dirty="0" err="1"/>
              <a:t>Executiva</a:t>
            </a:r>
            <a:r>
              <a:rPr lang="en-US" sz="2000" dirty="0"/>
              <a:t> | Business Analytics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8C223C8-827E-4352-B19D-57EB4DD5B086}"/>
              </a:ext>
            </a:extLst>
          </p:cNvPr>
          <p:cNvSpPr txBox="1"/>
          <p:nvPr/>
        </p:nvSpPr>
        <p:spPr>
          <a:xfrm>
            <a:off x="9569450" y="6432550"/>
            <a:ext cx="2622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lnSpc>
                <a:spcPct val="90000"/>
              </a:lnSpc>
              <a:spcBef>
                <a:spcPts val="1500"/>
              </a:spcBef>
              <a:defRPr sz="1800">
                <a:solidFill>
                  <a:srgbClr val="2980B9"/>
                </a:solidFill>
                <a:latin typeface="Arial"/>
              </a:defRPr>
            </a:pPr>
            <a:r>
              <a:rPr lang="pt-BR" sz="2000" dirty="0">
                <a:solidFill>
                  <a:srgbClr val="2980B9"/>
                </a:solidFill>
                <a:latin typeface="Arial"/>
              </a:rPr>
              <a:t>Ighor Sousa Caetano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1. Preparação e Saneamento da Base de Dados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Padronização Categórica: </a:t>
            </a:r>
            <a:r>
              <a:rPr lang="en-US" sz="1300"/>
              <a:t>Unificação de nomenclaturas redundantes em planos ('básico', 'BASICO' -&gt; 'Basico') e canais de aquisição ('IG', 'instagram' -&gt; 'Instagram').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Tratamento de Valores Outliers/Anomalias: </a:t>
            </a:r>
            <a:r>
              <a:rPr lang="en-US" sz="1300"/>
              <a:t>Correção de erros de escala no 'valor_mensal' (valores acima de R$ 1900 divididos por 100) e exclusão de idades inconsistentes (&lt; 18 ou &gt; 90 anos).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Saneamento Geográfico: </a:t>
            </a:r>
            <a:r>
              <a:rPr lang="en-US" sz="1300"/>
              <a:t>Substituição de caracteres inválidos ('?') na variável de região para valores nulos para evitar distorções estatísticas.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Métricas de Ciclo de Vida Calculadas: </a:t>
            </a:r>
            <a:r>
              <a:rPr lang="en-US" sz="1300"/>
              <a:t>Implementação de métricas de recência, tempo de vida ativo (tenure), meses totais de assinatura e receita acumulada por cliente.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27BC423-D653-5F09-08F4-A71789FC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513029"/>
            <a:ext cx="5150277" cy="365669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9AA7C6-5E5A-498E-A6DF-A943376E0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EAB11A-76F7-48F4-9B4F-5BFDF4BF9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4C416-D5F4-4F6F-A6F1-87A21CD4FC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AC1C30-21C6-4BF6-93EE-B211D7A85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1E140AE-0ABF-47C8-BF32-7D2F0CF2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1153618" y="1239927"/>
            <a:ext cx="4008586" cy="4680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2. Análise Bivariada &amp; Alertas de Viés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1923" y="1239927"/>
            <a:ext cx="4971824" cy="4680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NPS como Forte Sinalizador Prévio: </a:t>
            </a:r>
            <a:r>
              <a:rPr lang="en-US" sz="1400"/>
              <a:t>O Net Promoter Score demonstrou ser o sinalizador preditivo mais robusto e livre de vieses. Notas baixas correlacionam-se diretamente com churn iminente.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Demografia Estável: </a:t>
            </a:r>
            <a:r>
              <a:rPr lang="en-US" sz="1400"/>
              <a:t>Idade média idêntica (36 anos) em ambos os grupos (ativos vs. churned), sinalizando que o comportamento de churn independe da faixa etária.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Armadilha do Target Leakage (Vazamento de Variáveis): </a:t>
            </a:r>
            <a:r>
              <a:rPr lang="en-US" sz="1400"/>
              <a:t>Métricas como 'recência' e 'horas assistidas' mostram separação perfeita, mas são consequências diretas do abandono (vazamento) e não causas antecipadoras. O churn é a causa e não o efeito desses comportamentos.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Canais de Origem: </a:t>
            </a:r>
            <a:r>
              <a:rPr lang="en-US" sz="1400"/>
              <a:t>Clientes provenientes de indicações diretas apresentam taxas de fidelidade levemente superiores quando comparados a canais orgânicos ou mídias pagas (Google/Instagram).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3. Curvas de Retenção por Safras (Cohorts)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4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Comportamento Longitudinal: </a:t>
            </a:r>
            <a:r>
              <a:rPr lang="en-US" sz="1400"/>
              <a:t>Estudo focado no acompanhamento mensal da retenção a partir do mês de aquisição de cada cliente.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Deterioração Recente: </a:t>
            </a:r>
            <a:r>
              <a:rPr lang="en-US" sz="1400"/>
              <a:t>As safras mais recentes (especialmente ao longo de 2023) exibem inclinações de queda na retenção muito mais acentuadas quando comparadas às safras de 2022.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400" b="1"/>
              <a:t>• Ponto de Alerta de Negócio: </a:t>
            </a:r>
            <a:r>
              <a:rPr lang="en-US" sz="1400"/>
              <a:t>Este declínio aponta para uma possível redução da qualidade na aquisição de leads ou insatisfação sistemática com as primeiras interações de produto (onboarding).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AADE9D3-0517-1376-AF65-A8FBFC138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3" r="21971" b="2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4. Segmentação RFM de Clientes Ativos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Divisão Estratégica da Base: </a:t>
            </a:r>
            <a:r>
              <a:rPr lang="en-US" sz="1300"/>
              <a:t>Aplicação de quintis via ranking determinístico para classificar a base ativa em cinco perfis distintos de relacionamento.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Clientes 'Regulares' (27,91%): </a:t>
            </a:r>
            <a:r>
              <a:rPr lang="en-US" sz="1300"/>
              <a:t>A maior parcela de assinantes ativos mantém comportamento linear e previsível, formando o core estável da receita.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Clientes 'Em Risco' (23,84%): </a:t>
            </a:r>
            <a:r>
              <a:rPr lang="en-US" sz="1300"/>
              <a:t>Grupo crítico com alta frequência histórica, mas sem acessos recentes. Alvo imediato para réguas automatizadas de reengajamento.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Clientes 'Engajados' (16,33%) e 'Adormecidos' (16,16%): </a:t>
            </a:r>
            <a:r>
              <a:rPr lang="en-US" sz="1300"/>
              <a:t>Os engajados representam nossa maior oportunidade de cross-sell e embaixadores da marca, enquanto adormecidos carecem de campanhas de reativação profunda.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CB54F40-2BDA-A755-DDBA-03FB65D5A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73121"/>
            <a:ext cx="5150277" cy="2536512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5. Pareto: Por que os clientes cancelam?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Concentração de Causas (Regra 80/20): </a:t>
            </a:r>
            <a:r>
              <a:rPr lang="en-US" sz="1300"/>
              <a:t>Apenas três fatores principais concentram 75,45% (o core vital) de todos os cancelamentos de assinaturas observados.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1. Preço (33,55%): </a:t>
            </a:r>
            <a:r>
              <a:rPr lang="en-US" sz="1300"/>
              <a:t>Líder isolado dos motivos. Demanda planos de migração preventiva (mensal para anual com desconto) ou opções de suspensão temporária de mensalidades.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2. Pouco Conteúdo Novo (25,41%): </a:t>
            </a:r>
            <a:r>
              <a:rPr lang="en-US" sz="1300"/>
              <a:t>Alerta de engajamento. Requer melhoria na curadoria, agilidade em lançamentos ou melhor recomendação personalizada do catálogo atual.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3. Problema Técnico (16,48%): </a:t>
            </a:r>
            <a:r>
              <a:rPr lang="en-US" sz="1300"/>
              <a:t>Oportunidade pura de engenharia. Churn evitável decorrente de bugs de estabilidade e falhas de usabilidade na plataforma.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2B92BA-0353-6B0B-9E85-47E0ED999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66683"/>
            <a:ext cx="5150277" cy="254938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93662" y="386930"/>
            <a:ext cx="10066122" cy="12984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0C2340"/>
                </a:solidFill>
                <a:latin typeface="Arial"/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6. Gargalos no Funil de Conversão do Onboarding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300"/>
          </a:p>
          <a:p>
            <a:pPr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Desempenho Inicial Saudável: </a:t>
            </a:r>
            <a:r>
              <a:rPr lang="en-US" sz="1300"/>
              <a:t>Visitou Site (5.000) -&gt; Criou Conta (67,5% de conversão) -&gt; Assistiu 1ª Aula (79,9% de conversão em relação à criação da conta).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O Grande Gargalo - 'Assinou Plano' (39,51% de conversão): </a:t>
            </a:r>
            <a:r>
              <a:rPr lang="en-US" sz="1300"/>
              <a:t>Apenas cerca de um terço de quem conclui a primeira aula avança para a assinatura efetiva do plano pago. Representa a maior queda absoluta de retenção do funil.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Perda Financeira: </a:t>
            </a:r>
            <a:r>
              <a:rPr lang="en-US" sz="1300"/>
              <a:t>O onboarding perde 60,49% dos potenciais clientes interessados justamente no momento de checkout financeiro.</a:t>
            </a:r>
          </a:p>
          <a:p>
            <a:pPr indent="-228600" defTabSz="914400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500">
                <a:solidFill>
                  <a:srgbClr val="2C3E50"/>
                </a:solidFill>
                <a:latin typeface="Arial"/>
              </a:defRPr>
            </a:pPr>
            <a:r>
              <a:rPr lang="en-US" sz="1300" b="1"/>
              <a:t>• Recomendação Prática: </a:t>
            </a:r>
            <a:r>
              <a:rPr lang="en-US" sz="1300"/>
              <a:t>Implementar ofertas de trial de curta duração pós primeira aula ou simplificar os fluxos de pagamento e meios de checkout no momento de compra.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40D963E-ACF9-1056-774A-1A0FFAA44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44" r="28164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783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Ighor Sousa Caetano</cp:lastModifiedBy>
  <cp:revision>3</cp:revision>
  <dcterms:created xsi:type="dcterms:W3CDTF">2013-01-27T09:14:16Z</dcterms:created>
  <dcterms:modified xsi:type="dcterms:W3CDTF">2026-10-27T02:47:37Z</dcterms:modified>
  <cp:category/>
</cp:coreProperties>
</file>